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616"/>
    <a:srgbClr val="F8FAFC"/>
    <a:srgbClr val="FA7F3A"/>
    <a:srgbClr val="94A3B8"/>
    <a:srgbClr val="33B1FF"/>
    <a:srgbClr val="1E293B"/>
    <a:srgbClr val="13244B"/>
    <a:srgbClr val="EF4444"/>
    <a:srgbClr val="FF6D3F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58668" autoAdjust="0"/>
  </p:normalViewPr>
  <p:slideViewPr>
    <p:cSldViewPr snapToGrid="0" showGuides="1">
      <p:cViewPr>
        <p:scale>
          <a:sx n="50" d="100"/>
          <a:sy n="50" d="100"/>
        </p:scale>
        <p:origin x="1860" y="504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53179-DAD2-4C9F-8AFB-69BA6CEDE23D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690FF-15B8-4DAE-834E-FB909037A43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6232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Assalamualaikum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warahmatullahi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wabarakatuh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Selamat Malam yang Saya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Hormati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Bapak Dosen, </a:t>
            </a: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Abdul Azzam </a:t>
            </a: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Ajhari</a:t>
            </a: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S.Kom</a:t>
            </a: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., </a:t>
            </a: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M.Kom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Semoga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keadaan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baik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sehat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selalu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aamiin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Perkenalkan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kami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Kelompok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IFN41, Universitas Siber Asia. Kami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mempresentasikan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proyek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UTS Network Programming and Administration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tentang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komunikasi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client-server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AES-128-GCM. </a:t>
            </a:r>
          </a:p>
          <a:p>
            <a:endParaRPr lang="en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Anggota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kami: </a:t>
            </a:r>
          </a:p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Marsani</a:t>
            </a:r>
          </a:p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Muhammad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Saifulloh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Kristian </a:t>
            </a:r>
          </a:p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Sukandar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9987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Bayangkan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kampus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mengirim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sensitif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LAN. Jika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dikirim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perlindungan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plaintext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siapa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pun di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membacanya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Wireshark. Maka kami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membuktikan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kerentanan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AES-128-GCM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mengamankan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komunikasi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8106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AA213-6063-62B2-22A2-94B89F337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99615-C6DE-1564-A0E5-06F76B471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AC057-802A-A21B-A560-214D7A255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klasifikasi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berdasarkan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cakupan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jangkauan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personal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Bluetooth, LAN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gedung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kampus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WAN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skala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global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internet. Kami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memilih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karena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sesuai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skenario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kampus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kecepatannya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tinggi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mudah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dikonfigurasi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kami punya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penuh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perangkat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72515-5D7C-2566-50DC-E59287D6D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3721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DE23D-E51E-6FF5-430F-859E8817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3B8BB-0DAA-78B0-EA55-D602D5C66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00215-4A0C-9A78-9AC7-879145D75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Topologi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sederhana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server di IP 192.168.1.10 port 12345, client di 192.168.1.20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dinamis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terhubung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switch.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Protokol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TCP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dipilih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karena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menjamin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sampai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utuh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berurutan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Client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mengirim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server, server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membalas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konfirmasi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E981E-70A2-5337-B973-C43CF98B1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4568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1D43D-0D93-C2E0-C5BA-774C25791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8C408-A2FE-4D56-94AA-42D3B73C5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063E5-C292-6012-6900-22B5BEBD9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Komunikasi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dipetakan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tujuh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layer OSI: Layer 7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program Python, Layer 6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menangani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encoding UTF-8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AES, Layer 5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mengelola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TCP, Layer 4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protokol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TCP pada port 12345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three-way handshake SYN, SYN-ACK, ACK. Layer 3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bawah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menangani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routing IP, framing Ethernet,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transmisi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fisik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client: buat socket, connect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server, input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kirim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terima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tutup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server: buat socket, bind, listen, accept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koneksi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terima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tampilkan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kirim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kembali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menunggu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koneksi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5EAF3-2EF2-0889-E5AF-83AEF0022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6757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4DE8E-154C-C08E-4E64-6B6398D90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DBD39-B9D0-FF18-F473-5DFF25AF9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4E075-C74C-CAE1-C21B-4A259E92C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fungsi-fungsi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socket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Server: socket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koneksi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TCP, bind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mengikat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port, listen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mendengarkan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accept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menerima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koneksi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recv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terima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decode UTF-8. Client: socket, connect, input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encode UTF-8, send,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terima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kritis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encode UTF-8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mengkonversi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byte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pengacakan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apapun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Data di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asli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Mari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buktikan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B1921-4C16-5AB9-A3A3-D9CB3CEFD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2185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6893-33E3-12EE-CA0D-04579FF3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FAD4F-C8DA-2811-7422-5A3B06250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950B6-42BE-45AB-4065-A7755F68E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Wireshark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berjalan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filter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tcp.port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12345. Saya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jalankan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dikirim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dosen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pukul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10:00 di Ruang Utama'. Server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berhasil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menampilkan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beserta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 client, port,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waktu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penerimaan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Sekarang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lihat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Wireshark — Follow TCP Stream —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terbaca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jelas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utuh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Tidak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perlindungan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apapun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Inilah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bukti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nyata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bahwa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komunikasi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sangat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rentan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01AA8-7050-5D71-2A64-4D6D81CF9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0923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34A9F-221B-04AD-19D1-14FFBD0B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2FD84-3532-6384-5562-5E3093198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9699B-C1E0-BA4C-98FF-892741FD9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teridentifikasi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penyadapan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kebocoran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manipulasi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impersonasi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serangan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replay.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Solusinya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mencakup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AES-128, authenticated encryption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AES-GCM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sekaligus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memverifikasi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pertukaran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kunci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penggunaan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nonce,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Selanjutnya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implementasikan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3B3B9-8050-C4CE-3892-E7F40149A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7665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14B3C-2B6C-871B-1A70-43F7E644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260E4-01B7-365C-B0E1-3924B0860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FC5D1-3BFF-EB90-63BA-0A91F49E2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AES-128-GCM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beberapa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plaintext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asli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ciphertext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teracak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key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kunci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rahasia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128-bit, nonce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nilai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 byte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tiap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pengiriman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authentication tag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sidik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16 byte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Keunggulannya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kerahasiaan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sekaligus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mengatasi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tiga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Kunci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di-generate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disimpan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file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terpisah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source code,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didistribusikan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manual via flash drive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pernah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dikirim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3E35F-271E-5C9A-D93C-A797FFE3F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8868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18EA-6EB9-6F27-3E38-D057CD76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9B0BD-1DF8-BE53-A3FF-07A7AFE67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D70B9-E577-6D68-F2A7-E48B9986F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 client: buat nonce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AES-GCM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menghasilkan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ciphertext plus auth tag,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gabungkan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nonce, encode Base64,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kirim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TCP. Di server: decode Base64,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pisahkan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nonce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ciphertext,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GCM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memverifikasi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auth tag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dulu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dimanipulasi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cocok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gagal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Perhatikan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bahwa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kunci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dimuat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terpisah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pernah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ditampilkan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terbuka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kode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maupun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video.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Sekarang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buktikan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perbedaannya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296AB-0258-03ED-4421-F283275B5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38211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B9B15-29E5-90DB-66A2-0431ADBC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5CBB0-9A28-76FC-DA51-A3E898018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6AA71-932C-784C-69A4-6D11082E0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berjalan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 AES-128-GCM. Saya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jalankan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dosen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pukul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10:00 di Ruang Utama'. Di terminal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terlihat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plaintext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asli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ciphertext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dikirim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Sekarang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Wireshark — Follow TCP Stream —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bandingkan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demo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sebelumnya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Tadi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terbaca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jelas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sekarang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deretan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karakter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Base64.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Meskipun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paket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berhasil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ditangkap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dibaca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kunci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dekripsi</a:t>
            </a:r>
            <a:endParaRPr lang="en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B5B0C-3B96-F248-F21D-9CC3AAC3C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1438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61B7A-2FA4-2790-5A35-DEB4F627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7A0EA-D45E-3806-3CBC-F11367A30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12798-7C74-B97E-CE0F-6EA14CAB0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perubahan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keamanannya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sangat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Kerahasiaan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tadinya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sekarang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terjamin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Data di Wireshark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tadinya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terbaca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jelas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sekarang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karakter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acak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Trade-off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kompleksitas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sedikit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overhead — sangat worth it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keamanan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jauh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lebih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baik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457F2-2553-1B30-A39D-06385A12F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7303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2C238-8E3A-42EE-7202-A13E754D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27A86-5CF3-3A44-F756-07C065291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B81A7-C501-3F49-FAF2-68ED6E0D7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Meskipun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lebih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tersisa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antara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lain: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kunci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bocor, replay attack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mungkin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belum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client, metadata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terlihat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kunci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statis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kami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rekomendasikan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langkah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pembatasan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akses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kunci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berkala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pencatatan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pemantauan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koneksi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IDS,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pembaruan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library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rutin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1A898-09F0-8197-47E9-CFFF42B7F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207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1FCD-7E71-F324-87F4-A3B5A20B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DB3CE-2C07-EA85-AF86-5E75D6CB7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6F754-5A35-C7BB-E51C-C83F95496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Pengerjaan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proyek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dilakukan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bertahap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selama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kurang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lebih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minggu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Marsani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mengerjakan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analisis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perancangan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Muhammad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Saifulloh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mengimplementasikan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program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pengujian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Kristian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analisis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Wireshark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kerentanan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Sukandar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mengimplementasikan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AES-GCM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Tahap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akhir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penyusunan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dikerjakan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bersama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seluruh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anggota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101C2-6992-1643-C1B8-41AC10928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3250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408B8-BAC3-BDD9-89AC-163516365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1C431-A280-BCD9-53DE-8A7D504A2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C19F2-4483-6DD3-BC5A-C80E765E8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Kendala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kami: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memahami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perbedaan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 AES, Windows Firewall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memblokir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port, dan capture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paket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localhost. Kami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mengatasinya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belajar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bersama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Stallings,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panduan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konfigurasi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firewall,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menginstal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Npcap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kami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berencana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menambahkan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pertukaran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kunci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otomatis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dukungan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multi-client,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antarmuka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grafis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C375F-EC99-2265-33E4-4954AB2D9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5199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29FDB-C9E2-218D-E3E3-7AC8C4458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C7DC1-A79A-00AE-981B-A5CB64ACE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0D3E7-D4FB-FE67-0D98-81CDD2AE1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Kesimpulannya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komunikasi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sangat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rentan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buktikan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langsung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AES-128-GCM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efektif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melindungi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kerahasiaan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tunggal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diperlukan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keamanan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menyeluruh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Keempat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langsung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pemahaman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lebih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mendalam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Keamanan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fitur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tambahan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keamanan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keharusan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2A0A7-2250-DB81-4D79-00F4B1B08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24249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7D231-9710-81BF-C80D-721D3987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8EC85-D3CB-6E5F-670E-F00AB27B2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CEC32-4BB2-3699-1A26-3F6FF6261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Kesimpulannya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komunikasi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sangat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rentan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buktikan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langsung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AES-128-GCM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efektif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melindungi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kerahasiaan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tunggal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diperlukan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keamanan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menyeluruh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Keempat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langsung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pemahaman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lebih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mendalam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Keamanan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fitur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tambahan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keamanan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keharusan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CE912-C72D-4C20-DFA3-84045B5DB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2872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BC656-DBA8-B581-09AB-17E7E208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3BCD2-8CF2-AB5A-4346-03B2B8F00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E620E-80DC-B0FF-0344-5B01DC086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Demikian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paparkan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gunakan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antara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Wireless Communications oleh Andreas F. Molisch,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buku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William Stallings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tentang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Wireless Communications and Networks,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beberapa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akademik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lainnya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tercantum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slide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Semoga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terima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baik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terima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kasih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bimbingan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Bapak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selama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pembelajaran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terima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kasih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perhatiannya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 Marsani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izin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menutup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wassalamu'alaikum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warahmatullahi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wabarakatuh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E2366-ED28-B88A-99EB-D10975876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90FF-15B8-4DAE-834E-FB909037A439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880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9F5EE-83DA-9E8A-D425-96E5F6412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63DB9-828F-D622-CABC-E7BE43F69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E5E22-70F4-15CA-EFF0-8EE12E7C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16B2E-720F-336C-52EE-7180BB31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07B18-55C9-7268-FA12-315611F5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6945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33FF-7D34-A10D-D7CF-5C86CDA4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EC960-A41A-1D07-6E3D-3A1387E6A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BF333-0559-1B87-C85A-51375539E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CE564-4061-79A7-9E72-A9D1ED7A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3F11-D12F-7C30-1AF8-DD24CA31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413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47BC-A7F5-D339-3110-5D2598B4E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CE80D-7389-AB86-6083-429FFCC91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2961A-5BB7-AD1C-49A8-F7A81AD11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93E6C-E5FE-71DA-5535-767F5165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8344B-BB9B-516A-F067-05A69430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194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0A88-19CD-0275-AE63-AF07E331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906EB-5B8F-7FB2-7FDC-FF4600DDB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068B3-2C16-598F-C8DE-09D1C045F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CFA53-1D05-E979-3645-C779EF59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962D8-C74D-7F6B-D161-1612F6F9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CE9BF-CBE6-57BB-7E51-427E4C2A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0329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9528-1635-8919-678C-C76242E4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E1FC5-6E4C-41CB-0022-ECD02F93F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1474D-9B06-CDC8-0FA2-7EFD3D745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473E1-5250-FD4E-6700-12E6A5003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597144-188A-E082-D50F-DAA518766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665F6A-C13D-BBB5-5764-3EFE2A64F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61701-F9FB-535B-956F-3D8D76F45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B85B4-8175-927C-E83D-C6EBB2AB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9751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4094-4754-65C5-ABB3-0201D3D0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5A60C-3261-1304-64FC-229B9A98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027A0-983D-B8BF-AFD9-FCCDC2D9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3ABCB-0E5C-C963-17A2-0FA5BD96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909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A40CE-C1FB-8822-1543-4A8AA056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C4C59-2BE4-15DB-980F-00EB85A6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8C015-0155-F9FA-5ACB-D1418A15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296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CFE4-7CE9-4F9D-557D-E6E0D19AA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544F3-CB05-8D91-D569-7E806D25C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E6909-AFA8-EFE2-44CF-872A5217F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568BC-3DF2-BBB3-9841-14600D52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DC4BE-0C18-FCEB-D4EF-093E0A8C9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861F2-C4BE-7CE3-67F6-2540B9892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4460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5A96D-A8DD-0A4F-A8C1-2BC92DBD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EED2BD-EF8A-D4B7-DB54-7316DA632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1BF76-D6CA-97EA-F5CB-2625E2CA5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D0248-C920-A566-87B3-CFD42DE5E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BF45F-C97A-DA62-0950-75968E57F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74206-EB7E-F394-C5E8-0F99C4032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0848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A1F8-5AE1-70D4-E3F3-581F9DE4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4700A-D1C2-D819-B6DD-056AB4D4D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2043A-EF80-CA7E-1784-B639F1D0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7060C-B4C2-66FC-C920-929D9FD3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33036-EC93-9E1C-6F7B-9BBBF660F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344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69E1E9-9186-2AC8-7E5B-D44BD357C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88F77-96BC-ED82-36E9-4C40A4BC5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BED7E-3135-F183-DAFC-CC32F2407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47741-F7F3-8EFA-BD4A-B2BC85CD2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2C1E6-B98B-468E-D244-35B613D5E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618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32C8AE-288F-A6B1-194F-919D978ED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2BFF9-C300-E8D0-D6F8-8C29E83A4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B51D0-DA13-7BC5-AC25-8BA25A84A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613C2-16D1-4239-8A6B-8DC20555872C}" type="datetimeFigureOut">
              <a:rPr lang="en-ID" smtClean="0"/>
              <a:t>13/06/2026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10990-DE89-9A6A-5FBC-E0B7DC73A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83913-3ED1-D38D-A1EB-3FD7394EB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09BC3-143E-472A-9ADE-3BBB5541D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004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_network_dark_notext">
            <a:hlinkClick r:id="" action="ppaction://media"/>
            <a:extLst>
              <a:ext uri="{FF2B5EF4-FFF2-40B4-BE49-F238E27FC236}">
                <a16:creationId xmlns:a16="http://schemas.microsoft.com/office/drawing/2014/main" id="{232E0E29-F6DA-FFE2-4E94-71149CD910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11269"/>
          <a:stretch>
            <a:fillRect/>
          </a:stretch>
        </p:blipFill>
        <p:spPr>
          <a:xfrm>
            <a:off x="1373846" y="0"/>
            <a:ext cx="10818154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130DC59-8753-C0AA-9E3E-0745499D5546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gradFill flip="none" rotWithShape="1">
            <a:gsLst>
              <a:gs pos="52000">
                <a:srgbClr val="161616"/>
              </a:gs>
              <a:gs pos="100000">
                <a:srgbClr val="161616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7BED8C-59B5-80BD-53DF-0A0C1135AE29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913868-AA10-A55C-68B8-5C135B67D009}"/>
              </a:ext>
            </a:extLst>
          </p:cNvPr>
          <p:cNvSpPr txBox="1"/>
          <p:nvPr/>
        </p:nvSpPr>
        <p:spPr>
          <a:xfrm>
            <a:off x="936763" y="456407"/>
            <a:ext cx="6107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b="0" i="0" dirty="0">
                <a:solidFill>
                  <a:srgbClr val="94A3B8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UJIAN TENGAH SEMESTER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417B4F-9773-B37C-6F84-0527B9B73446}"/>
              </a:ext>
            </a:extLst>
          </p:cNvPr>
          <p:cNvSpPr txBox="1"/>
          <p:nvPr/>
        </p:nvSpPr>
        <p:spPr>
          <a:xfrm>
            <a:off x="936763" y="868018"/>
            <a:ext cx="6107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 Programming &amp; Administration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31ACAB-1145-9D9B-4C97-7714FF6B7CEA}"/>
              </a:ext>
            </a:extLst>
          </p:cNvPr>
          <p:cNvSpPr txBox="1"/>
          <p:nvPr/>
        </p:nvSpPr>
        <p:spPr>
          <a:xfrm>
            <a:off x="936763" y="1693757"/>
            <a:ext cx="95174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000" dirty="0" err="1">
                <a:gradFill>
                  <a:gsLst>
                    <a:gs pos="13000">
                      <a:srgbClr val="3B82F6"/>
                    </a:gs>
                    <a:gs pos="94000">
                      <a:srgbClr val="EF4444"/>
                    </a:gs>
                  </a:gsLst>
                  <a:lin ang="0" scaled="1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Implementasi</a:t>
            </a:r>
            <a:r>
              <a:rPr lang="en-ID" sz="4000" dirty="0">
                <a:gradFill>
                  <a:gsLst>
                    <a:gs pos="13000">
                      <a:srgbClr val="3B82F6"/>
                    </a:gs>
                    <a:gs pos="94000">
                      <a:srgbClr val="EF4444"/>
                    </a:gs>
                  </a:gsLst>
                  <a:lin ang="0" scaled="1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ID" sz="4000" dirty="0" err="1">
                <a:gradFill>
                  <a:gsLst>
                    <a:gs pos="13000">
                      <a:srgbClr val="3B82F6"/>
                    </a:gs>
                    <a:gs pos="94000">
                      <a:srgbClr val="EF4444"/>
                    </a:gs>
                  </a:gsLst>
                  <a:lin ang="0" scaled="1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Komunikasi</a:t>
            </a:r>
            <a:r>
              <a:rPr lang="en-ID" sz="4000" dirty="0">
                <a:gradFill>
                  <a:gsLst>
                    <a:gs pos="13000">
                      <a:srgbClr val="3B82F6"/>
                    </a:gs>
                    <a:gs pos="94000">
                      <a:srgbClr val="EF4444"/>
                    </a:gs>
                  </a:gsLst>
                  <a:lin ang="0" scaled="1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Client-Server </a:t>
            </a:r>
            <a:r>
              <a:rPr lang="en-ID" sz="4000" dirty="0" err="1">
                <a:gradFill>
                  <a:gsLst>
                    <a:gs pos="13000">
                      <a:srgbClr val="3B82F6"/>
                    </a:gs>
                    <a:gs pos="94000">
                      <a:srgbClr val="EF4444"/>
                    </a:gs>
                  </a:gsLst>
                  <a:lin ang="0" scaled="1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Amandengan</a:t>
            </a:r>
            <a:r>
              <a:rPr lang="en-ID" sz="4000" dirty="0">
                <a:gradFill>
                  <a:gsLst>
                    <a:gs pos="13000">
                      <a:srgbClr val="3B82F6"/>
                    </a:gs>
                    <a:gs pos="94000">
                      <a:srgbClr val="EF4444"/>
                    </a:gs>
                  </a:gsLst>
                  <a:lin ang="0" scaled="1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ID" sz="4000" dirty="0" err="1">
                <a:gradFill>
                  <a:gsLst>
                    <a:gs pos="13000">
                      <a:srgbClr val="3B82F6"/>
                    </a:gs>
                    <a:gs pos="94000">
                      <a:srgbClr val="EF4444"/>
                    </a:gs>
                  </a:gsLst>
                  <a:lin ang="0" scaled="1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Enkripsi</a:t>
            </a:r>
            <a:r>
              <a:rPr lang="en-ID" sz="4000" dirty="0">
                <a:gradFill>
                  <a:gsLst>
                    <a:gs pos="13000">
                      <a:srgbClr val="3B82F6"/>
                    </a:gs>
                    <a:gs pos="94000">
                      <a:srgbClr val="EF4444"/>
                    </a:gs>
                  </a:gsLst>
                  <a:lin ang="0" scaled="1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AES-128-GCM pada </a:t>
            </a:r>
            <a:r>
              <a:rPr lang="en-ID" sz="4000" dirty="0" err="1">
                <a:gradFill>
                  <a:gsLst>
                    <a:gs pos="13000">
                      <a:srgbClr val="3B82F6"/>
                    </a:gs>
                    <a:gs pos="94000">
                      <a:srgbClr val="EF4444"/>
                    </a:gs>
                  </a:gsLst>
                  <a:lin ang="0" scaled="1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Jaringan</a:t>
            </a:r>
            <a:r>
              <a:rPr lang="en-ID" sz="4000" dirty="0">
                <a:gradFill>
                  <a:gsLst>
                    <a:gs pos="13000">
                      <a:srgbClr val="3B82F6"/>
                    </a:gs>
                    <a:gs pos="94000">
                      <a:srgbClr val="EF4444"/>
                    </a:gs>
                  </a:gsLst>
                  <a:lin ang="0" scaled="1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LAN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98BCC4-AEBF-9912-DAD3-6234BECD64FB}"/>
              </a:ext>
            </a:extLst>
          </p:cNvPr>
          <p:cNvSpPr txBox="1"/>
          <p:nvPr/>
        </p:nvSpPr>
        <p:spPr>
          <a:xfrm>
            <a:off x="936763" y="3697425"/>
            <a:ext cx="8382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Kelompok 5 — Kelas IFN41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91AF8C-452B-E0C9-1B5F-DA2089B9F6FC}"/>
              </a:ext>
            </a:extLst>
          </p:cNvPr>
          <p:cNvCxnSpPr/>
          <p:nvPr/>
        </p:nvCxnSpPr>
        <p:spPr>
          <a:xfrm>
            <a:off x="1071562" y="860319"/>
            <a:ext cx="3607905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6650E14-9FB6-26CD-349F-CE713ED37E19}"/>
              </a:ext>
            </a:extLst>
          </p:cNvPr>
          <p:cNvSpPr txBox="1"/>
          <p:nvPr/>
        </p:nvSpPr>
        <p:spPr>
          <a:xfrm>
            <a:off x="936763" y="4500767"/>
            <a:ext cx="6107594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Dosen: Abdul Azzam </a:t>
            </a: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Ajhari</a:t>
            </a: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S.Kom</a:t>
            </a: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., </a:t>
            </a: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M.Kom</a:t>
            </a:r>
            <a:endParaRPr lang="en-ID" b="1" dirty="0">
              <a:solidFill>
                <a:srgbClr val="94A3B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Angota</a:t>
            </a: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Kelompok</a:t>
            </a: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Marsani</a:t>
            </a:r>
            <a:r>
              <a:rPr lang="en-ID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(230401010282)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Muhammad </a:t>
            </a: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Saifulloh</a:t>
            </a: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D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(220401010207) 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Kristian </a:t>
            </a: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Hananiel</a:t>
            </a:r>
            <a:r>
              <a:rPr lang="en-ID" b="1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Hura </a:t>
            </a:r>
            <a:r>
              <a:rPr lang="en-ID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(220401010289)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ID" b="1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Sukandar</a:t>
            </a:r>
            <a:r>
              <a:rPr lang="en-ID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(240401020175)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7363E71-9E65-CDE3-7F0A-0835A9F645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958" y="496546"/>
            <a:ext cx="1593480" cy="64600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150D847-40C6-7767-91A2-929A0E430A6D}"/>
              </a:ext>
            </a:extLst>
          </p:cNvPr>
          <p:cNvSpPr txBox="1"/>
          <p:nvPr/>
        </p:nvSpPr>
        <p:spPr>
          <a:xfrm>
            <a:off x="9255379" y="1119305"/>
            <a:ext cx="2136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PJJ </a:t>
            </a:r>
            <a:r>
              <a:rPr lang="en-ID" sz="1400" dirty="0" err="1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Informatika</a:t>
            </a:r>
            <a:endParaRPr lang="en-ID" sz="1400" dirty="0">
              <a:solidFill>
                <a:srgbClr val="94A3B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32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7BED8C-59B5-80BD-53DF-0A0C1135AE29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913868-AA10-A55C-68B8-5C135B67D009}"/>
              </a:ext>
            </a:extLst>
          </p:cNvPr>
          <p:cNvSpPr txBox="1"/>
          <p:nvPr/>
        </p:nvSpPr>
        <p:spPr>
          <a:xfrm>
            <a:off x="792162" y="430612"/>
            <a:ext cx="6107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LATAR BELAKANG &amp; TUJUAN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91AF8C-452B-E0C9-1B5F-DA2089B9F6FC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8A394A0-C842-F21B-4242-7A4EF0E11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0BDC38-66C7-E7D4-0DED-523F0DD74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62" y="1309454"/>
            <a:ext cx="8164064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937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61D1D-C25D-E0B9-39A5-94A2221C4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3A5329-935B-2439-C38B-F782FC84A025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47F8E1-DBA2-C8CA-3A22-0DD6C7170A7D}"/>
              </a:ext>
            </a:extLst>
          </p:cNvPr>
          <p:cNvSpPr txBox="1"/>
          <p:nvPr/>
        </p:nvSpPr>
        <p:spPr>
          <a:xfrm>
            <a:off x="792161" y="430612"/>
            <a:ext cx="71781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KLASIFIKASI JARINGAN &amp; PEMILIHAN LAN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FA3C72-F499-3462-F63E-981FEC20F2F1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4A0F993-7E1D-ABE2-6EF3-AC1A5E9C2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C4CD70-C9F3-87BB-E08C-0E38F30B0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26" y="1088711"/>
            <a:ext cx="7386402" cy="50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4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FF193-3376-F561-0BEC-156F4ABC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7099F5-BBCB-65F7-4A16-B5D17F23E604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1BA306-E3DD-7357-1E4A-F20A2D86FE29}"/>
              </a:ext>
            </a:extLst>
          </p:cNvPr>
          <p:cNvSpPr txBox="1"/>
          <p:nvPr/>
        </p:nvSpPr>
        <p:spPr>
          <a:xfrm>
            <a:off x="792162" y="430612"/>
            <a:ext cx="6107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TOPOLOGI &amp; PARAMETER JARINGAN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EB0652-3AAF-8CF6-47A6-999B5387F8F5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5A9AACF-7026-923C-FB07-6AA03907B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ED1FFC-9F7D-016A-9240-B4B04E973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162" y="1322888"/>
            <a:ext cx="5948818" cy="48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07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2DF28-B28B-A012-7285-512405D8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11F05F-F909-D9FE-DCE6-61733C56745E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AFD24A8-3289-DF1D-2FE1-56464C8115CC}"/>
              </a:ext>
            </a:extLst>
          </p:cNvPr>
          <p:cNvSpPr txBox="1"/>
          <p:nvPr/>
        </p:nvSpPr>
        <p:spPr>
          <a:xfrm>
            <a:off x="792162" y="430612"/>
            <a:ext cx="6107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OSI LAYER, ALUR TCP &amp; DIAGRAM ALIR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E84D43-0E12-6FC2-1A71-D5B0C9E93CC6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9E6371C-0FFA-ED50-02D3-3A3F5E776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DDD744-5644-34C6-8B7A-3335F527D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00" y="1253313"/>
            <a:ext cx="4090064" cy="28275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62C20B-CD19-89BB-19FB-7E1923453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42" y="4372366"/>
            <a:ext cx="2514778" cy="22633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77D0C2-8273-8E13-3780-2592E2633B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39"/>
          <a:stretch>
            <a:fillRect/>
          </a:stretch>
        </p:blipFill>
        <p:spPr>
          <a:xfrm>
            <a:off x="5547986" y="1128880"/>
            <a:ext cx="4090064" cy="460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48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70185-19FB-BFFC-2928-D3FFFE23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E14941-39D1-5F43-2084-994778E4CFE9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087A47E-2921-71EB-CDE2-286B7564C4E6}"/>
              </a:ext>
            </a:extLst>
          </p:cNvPr>
          <p:cNvSpPr txBox="1"/>
          <p:nvPr/>
        </p:nvSpPr>
        <p:spPr>
          <a:xfrm>
            <a:off x="792162" y="430612"/>
            <a:ext cx="6107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IMPLEMENTASI TANPA ENKRIPSI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9C9293-C2BA-39B5-0A99-C0C2E85461EA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CB6D0F2-76B3-3F4F-7935-54920A5B2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A03AB0-7642-07FB-A0DF-2B993F4BF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162" y="1322888"/>
            <a:ext cx="7587563" cy="421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8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4CC9B-19C2-F785-A6A1-EC7183AC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08B897-F28F-D4D4-D107-7194B8FA289D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6D5A5F5-CCAF-FACC-9380-B9BC9F0DC71E}"/>
              </a:ext>
            </a:extLst>
          </p:cNvPr>
          <p:cNvSpPr txBox="1"/>
          <p:nvPr/>
        </p:nvSpPr>
        <p:spPr>
          <a:xfrm>
            <a:off x="792162" y="430612"/>
            <a:ext cx="8024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DEMO PRAKTIK 1: TANPA ENKRIPSI + WIRESHARK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FC9550-470B-CCAF-7541-3CE291C5E764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5ABA836-A410-4562-EAF2-1991DAB6D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F4C0B9-E4EB-C1B0-7BCB-28B6C0E1BF14}"/>
              </a:ext>
            </a:extLst>
          </p:cNvPr>
          <p:cNvSpPr txBox="1"/>
          <p:nvPr/>
        </p:nvSpPr>
        <p:spPr>
          <a:xfrm>
            <a:off x="792162" y="1322888"/>
            <a:ext cx="1022158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1. [Terminal 1]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Jalankan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server:</a:t>
            </a: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&gt; docker exec -it server python server_tanpa_enkripsi.py</a:t>
            </a:r>
          </a:p>
          <a:p>
            <a:pPr algn="l">
              <a:buNone/>
            </a:pPr>
            <a:endParaRPr lang="en-ID" sz="16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2. [Terminal 2] Buka Sniffer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ke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Wireshark (via CMD):</a:t>
            </a:r>
          </a:p>
          <a:p>
            <a:pPr algn="l">
              <a:buNone/>
            </a:pPr>
            <a:endParaRPr lang="en-ID" sz="16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&gt; docker exec sniffer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tcpdump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eth0 -U -w -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port 12345 | </a:t>
            </a:r>
          </a:p>
          <a:p>
            <a:pPr algn="l">
              <a:buNone/>
            </a:pPr>
            <a:r>
              <a:rPr lang="en-ID" sz="1600" dirty="0">
                <a:solidFill>
                  <a:srgbClr val="D4D4D4"/>
                </a:solidFill>
                <a:latin typeface="Consolas" panose="020B0609020204030204" pitchFamily="49" charset="0"/>
              </a:rPr>
              <a:t>       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"C:\Program Files\Wireshark\Wireshark.exe" -k -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</a:p>
          <a:p>
            <a:pPr algn="l">
              <a:buNone/>
            </a:pPr>
            <a:endParaRPr lang="en-ID" sz="16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3. [Terminal 3]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Jalankan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client:</a:t>
            </a: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&gt; docker exec -it client python client_tanpa_enkripsi.py</a:t>
            </a: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Kirim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Rapat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dosen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pukul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10:00 di Ruang Utama"</a:t>
            </a:r>
          </a:p>
          <a:p>
            <a:pPr algn="l">
              <a:buNone/>
            </a:pPr>
            <a:endParaRPr lang="en-ID" sz="16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4.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Tunjukkan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• Server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menampilkan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info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koneksi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(IP, port,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waktu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• Client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menampilkan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balasan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server</a:t>
            </a:r>
          </a:p>
          <a:p>
            <a:pPr algn="l">
              <a:buNone/>
            </a:pPr>
            <a:endParaRPr lang="en-ID" sz="16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5. [Wireshark]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Tunjukkan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jendela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Wireshark yang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terbuka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otomatis</a:t>
            </a:r>
            <a:endParaRPr lang="en-ID" sz="16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→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Klik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Kanan → Follow TCP Stream</a:t>
            </a:r>
          </a:p>
          <a:p>
            <a:pPr algn="l">
              <a:buNone/>
            </a:pP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→ TUNJUKKAN </a:t>
            </a:r>
            <a:r>
              <a:rPr lang="en-ID" sz="16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sz="16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TERBACA JELAS!</a:t>
            </a:r>
            <a:endParaRPr lang="en-ID" sz="1600" b="0" i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954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E97DF-6CF4-B198-18D5-8AAC5A4C1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77E8FA-3292-D9CC-63D2-C12D9885B55F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750E46-2A44-24B4-16CA-1A14F218CDA9}"/>
              </a:ext>
            </a:extLst>
          </p:cNvPr>
          <p:cNvSpPr txBox="1"/>
          <p:nvPr/>
        </p:nvSpPr>
        <p:spPr>
          <a:xfrm>
            <a:off x="792162" y="430612"/>
            <a:ext cx="6107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RISIKO KEAMANAN &amp; SOLUSI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A4D299-04B7-B391-683C-A9CC746A8E6B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672E674-C75D-75D3-3D1A-AB7B9DA61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995693-4845-8D6D-F552-6C941375EFA5}"/>
              </a:ext>
            </a:extLst>
          </p:cNvPr>
          <p:cNvSpPr txBox="1"/>
          <p:nvPr/>
        </p:nvSpPr>
        <p:spPr>
          <a:xfrm>
            <a:off x="577968" y="1507228"/>
            <a:ext cx="10221582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D" b="1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5 RISIKO KEAMANAN TERIDENTIFIKASI:</a:t>
            </a:r>
          </a:p>
          <a:p>
            <a:pPr marL="180000" algn="l">
              <a:buNone/>
            </a:pP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❌ 1. PENYADAPAN (Eavesdropping)  →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Pesan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terbaca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di Wireshark</a:t>
            </a:r>
          </a:p>
          <a:p>
            <a:pPr marL="180000" algn="l">
              <a:buNone/>
            </a:pP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❌ 2. KEBOCORAN INFORMASI         → Data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sensitif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bocor</a:t>
            </a:r>
          </a:p>
          <a:p>
            <a:pPr marL="180000" algn="l">
              <a:buNone/>
            </a:pP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❌ 3. MANIPULASI PESAN (MitM)     →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Pesan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diubah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tanpa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terdeteksi</a:t>
            </a:r>
            <a:endParaRPr lang="en-ID" b="0" i="0" dirty="0">
              <a:solidFill>
                <a:schemeClr val="bg1">
                  <a:lumMod val="6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pPr marL="180000" algn="l">
              <a:buNone/>
            </a:pP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❌ 4. IMPERSONASI CLIENT          →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Pesan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palsu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ke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server</a:t>
            </a:r>
          </a:p>
          <a:p>
            <a:pPr marL="180000" algn="l">
              <a:buNone/>
            </a:pP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❌ 5. SERANGAN REPLAY             → Paket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sah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dikirim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ulang</a:t>
            </a:r>
            <a:endParaRPr lang="en-ID" b="0" i="0" dirty="0">
              <a:solidFill>
                <a:schemeClr val="bg1">
                  <a:lumMod val="6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ID" b="0" i="0" dirty="0">
              <a:solidFill>
                <a:schemeClr val="bg1">
                  <a:lumMod val="6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pPr algn="l">
              <a:spcAft>
                <a:spcPts val="1200"/>
              </a:spcAft>
              <a:buNone/>
            </a:pPr>
            <a:r>
              <a:rPr lang="en-ID" b="1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SOLUSI YANG DIPERLUKAN:</a:t>
            </a:r>
          </a:p>
          <a:p>
            <a:pPr marL="216000" algn="l">
              <a:buNone/>
            </a:pP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🔐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Enkripsi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data (AES-128)</a:t>
            </a:r>
          </a:p>
          <a:p>
            <a:pPr marL="216000" algn="l">
              <a:buNone/>
            </a:pP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🔐 Authenticated encryption (AES-GCM) →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verifikasi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integritas</a:t>
            </a:r>
            <a:endParaRPr lang="en-ID" b="0" i="0" dirty="0">
              <a:solidFill>
                <a:schemeClr val="bg1">
                  <a:lumMod val="6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pPr marL="216000" algn="l">
              <a:buNone/>
            </a:pP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🔐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Pertukaran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kunci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aman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(Diffie-Hellman / TLS)</a:t>
            </a:r>
          </a:p>
          <a:p>
            <a:pPr marL="216000" algn="l">
              <a:buNone/>
            </a:pP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🔐 Nonce / timestamp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untuk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cegah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replay</a:t>
            </a:r>
          </a:p>
          <a:p>
            <a:pPr marL="216000" algn="l">
              <a:buNone/>
            </a:pP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 🔐 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Autentikasi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client (</a:t>
            </a:r>
            <a:r>
              <a:rPr lang="en-ID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sertifikat</a:t>
            </a:r>
            <a:r>
              <a:rPr lang="en-ID" b="0" i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</a:rPr>
              <a:t> / token)</a:t>
            </a:r>
          </a:p>
        </p:txBody>
      </p:sp>
    </p:spTree>
    <p:extLst>
      <p:ext uri="{BB962C8B-B14F-4D97-AF65-F5344CB8AC3E}">
        <p14:creationId xmlns:p14="http://schemas.microsoft.com/office/powerpoint/2010/main" val="79978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95CC5-21E5-3AE8-C801-7FA235A72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A1DCC8-A3A9-F308-E37C-6090374138D1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155C814-4B31-6891-FB71-B5B6B2FBFEA6}"/>
              </a:ext>
            </a:extLst>
          </p:cNvPr>
          <p:cNvSpPr txBox="1"/>
          <p:nvPr/>
        </p:nvSpPr>
        <p:spPr>
          <a:xfrm>
            <a:off x="792162" y="430612"/>
            <a:ext cx="7901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KONSEP AES-128-GCM &amp; PENGELOLAAN KUNCI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98A5FB-F15B-F3E6-A156-B1E437299C15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328867D-7EBB-11A6-447F-788E7CE17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6A6358-10EE-A805-C66C-A08D4AB2F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48" y="1322888"/>
            <a:ext cx="7901461" cy="465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24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5EDF9-1D39-D9FF-271D-06B0C39A5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3DF8E1-09BF-2C06-747E-B2E552E39E8F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F9A3215-B990-6C68-A07D-A4023B4D51C0}"/>
              </a:ext>
            </a:extLst>
          </p:cNvPr>
          <p:cNvSpPr txBox="1"/>
          <p:nvPr/>
        </p:nvSpPr>
        <p:spPr>
          <a:xfrm>
            <a:off x="792162" y="430612"/>
            <a:ext cx="7901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nb-NO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ALUR ENKRIPSI/DEKRIPSI &amp; HIGHLIGHT KODE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2B7332-5971-45A1-3513-BAE1BDA2A091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8F7C186-8E86-AB20-D346-0577D1E4D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2BF9F7-CCFB-D9AC-9CC4-A91A7F874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807" y="1322888"/>
            <a:ext cx="5323915" cy="2773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108F2C-1D31-9C00-4B2E-FCD5CF441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17" y="1303873"/>
            <a:ext cx="6097690" cy="269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53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D5CD3-ADF0-C550-640D-06C51B8C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AAB7CA-2126-3634-C196-BD67BA0A9F3E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F8E4DAE-B6C4-240C-94B2-C7FD289537A9}"/>
              </a:ext>
            </a:extLst>
          </p:cNvPr>
          <p:cNvSpPr txBox="1"/>
          <p:nvPr/>
        </p:nvSpPr>
        <p:spPr>
          <a:xfrm>
            <a:off x="792162" y="430612"/>
            <a:ext cx="7901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DEMO PRAKTIK 2: DENGAN ENKRIPSI + WIRESHARK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AC3FC8-7478-7D7B-A041-D59C699FBA2E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4D2D488-7671-634E-F6B4-60CB34FA4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740ED7-52C6-07B4-3848-AF13BB32ACFC}"/>
              </a:ext>
            </a:extLst>
          </p:cNvPr>
          <p:cNvSpPr txBox="1"/>
          <p:nvPr/>
        </p:nvSpPr>
        <p:spPr>
          <a:xfrm>
            <a:off x="792162" y="1322888"/>
            <a:ext cx="1033076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1400" b="1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LANGKAH-LANGKAH DEMO:</a:t>
            </a:r>
          </a:p>
          <a:p>
            <a:pPr algn="l">
              <a:buNone/>
            </a:pPr>
            <a:endParaRPr lang="en-ID" sz="14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1. [Terminal 1]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Jalankan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server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terenkripsi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&gt; docker exec -it server python server_dengan_enkripsi.py</a:t>
            </a:r>
          </a:p>
          <a:p>
            <a:pPr algn="l">
              <a:buNone/>
            </a:pPr>
            <a:endParaRPr lang="en-ID" sz="14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2. [Terminal 2] Buka Sniffer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ke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Wireshark (via CMD):</a:t>
            </a: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&gt; docker exec sniffer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tcpdump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eth0 -U -w -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port 12345 | </a:t>
            </a:r>
          </a:p>
          <a:p>
            <a:pPr algn="l">
              <a:buNone/>
            </a:pPr>
            <a:r>
              <a:rPr lang="en-ID" sz="1400" dirty="0">
                <a:solidFill>
                  <a:srgbClr val="D4D4D4"/>
                </a:solidFill>
                <a:latin typeface="Consolas" panose="020B0609020204030204" pitchFamily="49" charset="0"/>
              </a:rPr>
              <a:t>       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"C:\Program Files\Wireshark\Wireshark.exe" -k -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</a:p>
          <a:p>
            <a:pPr algn="l">
              <a:buNone/>
            </a:pPr>
            <a:endParaRPr lang="en-ID" sz="14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3. [Terminal 3]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Jalankan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client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terenkripsi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&gt; docker exec -it client python client_dengan_enkripsi.py</a:t>
            </a: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Kirim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Rapat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dosen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pukul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10:00 di Ruang Utama"</a:t>
            </a:r>
          </a:p>
          <a:p>
            <a:pPr algn="l">
              <a:buNone/>
            </a:pPr>
            <a:endParaRPr lang="en-ID" sz="14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4.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Tunjukkan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di terminal:</a:t>
            </a: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• Client: PLAINTEXT dan CIPHERTEXT</a:t>
            </a: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• Server: CIPHERTEXT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diterima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→ PLAINTEXT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hasil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dekripsi</a:t>
            </a:r>
            <a:endParaRPr lang="en-ID" sz="14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endParaRPr lang="en-ID" sz="14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5. [Wireshark]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Tunjukkan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jendela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Wireshark yang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terbuka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otomatis</a:t>
            </a:r>
            <a:endParaRPr lang="en-ID" sz="14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→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Klik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Kanan → Follow TCP Stream</a:t>
            </a: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→ Hanya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karakter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acak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Base64! PESAN TIDAK BISA DIBACA ✅</a:t>
            </a:r>
          </a:p>
          <a:p>
            <a:pPr algn="l">
              <a:buNone/>
            </a:pPr>
            <a:endParaRPr lang="en-ID" sz="1400" b="0" i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6. BANDINGKAN:</a:t>
            </a:r>
          </a:p>
          <a:p>
            <a:pPr algn="l">
              <a:buNone/>
            </a:pP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"Tadi plaintext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terbaca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sekarang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hanya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karakter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acak</a:t>
            </a:r>
            <a:r>
              <a:rPr lang="en-ID" sz="1400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</a:t>
            </a:r>
            <a:endParaRPr lang="en-ID" sz="1400" b="0" i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974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368C0-6A7B-20F7-2E2D-27444AE54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06BA31-D142-4938-55ED-87975100BB97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774E0A-1F49-CE25-D6C6-2B40AF72BC6C}"/>
              </a:ext>
            </a:extLst>
          </p:cNvPr>
          <p:cNvSpPr txBox="1"/>
          <p:nvPr/>
        </p:nvSpPr>
        <p:spPr>
          <a:xfrm>
            <a:off x="792162" y="430612"/>
            <a:ext cx="7901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TABEL EVALUASI KOMPARATIF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877C1B-1CE4-7708-46C2-638CCB202A60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4D3688D-D271-76EC-F310-9CCC797C0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C2D7CD-4544-0A18-8A8F-35AD9440E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162" y="1180616"/>
            <a:ext cx="7355551" cy="489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12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C600D-B710-513D-17EF-0F6FC3A3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535039-F3EA-D237-2E30-8EEE7683A9AE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21708FC-7A2D-D4F0-AA91-9DA72F8B091B}"/>
              </a:ext>
            </a:extLst>
          </p:cNvPr>
          <p:cNvSpPr txBox="1"/>
          <p:nvPr/>
        </p:nvSpPr>
        <p:spPr>
          <a:xfrm>
            <a:off x="792162" y="430612"/>
            <a:ext cx="7901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RISIKO TERSISA &amp; REKOMENDASI KEAMANAN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E072F7-C912-C10A-A62D-B0E97333E674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001F616-4A2D-AE2A-8F8A-D76F0C409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30FBD1-B392-3AE0-657F-1526B3530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62" y="1229796"/>
            <a:ext cx="7164488" cy="519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92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F426D-36E2-A258-0686-F807C57C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52A854-6BE5-4FB6-25A9-57D2EF336FCA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57911A-F265-A55B-2F91-F1AD91DF74E6}"/>
              </a:ext>
            </a:extLst>
          </p:cNvPr>
          <p:cNvSpPr txBox="1"/>
          <p:nvPr/>
        </p:nvSpPr>
        <p:spPr>
          <a:xfrm>
            <a:off x="792162" y="430612"/>
            <a:ext cx="7901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JADWAL PENGERJAAN &amp; PEMBAGIAN TUGAS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FB5E66-D196-F076-228F-B4BA8F8C2F5F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010A048-3B2D-3CE6-109C-ED40BB975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56F37A-AD70-1E94-8466-2982753E7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162" y="1228418"/>
            <a:ext cx="8240275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33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874BC9-AA0B-5A59-31FC-A18A06D63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A97EEB6-626D-1E09-81A9-8DF21964CEFD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35470B-6C89-AB54-2D6E-C46575C68ACF}"/>
              </a:ext>
            </a:extLst>
          </p:cNvPr>
          <p:cNvSpPr txBox="1"/>
          <p:nvPr/>
        </p:nvSpPr>
        <p:spPr>
          <a:xfrm>
            <a:off x="792162" y="430612"/>
            <a:ext cx="7901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REFLEKSI KELOMPOK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9D5FC0-F913-5771-533F-F83E25A139FD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FCAFDFA-B7CD-8748-40E1-0E25D6367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1D353E-0EC4-C9B9-5DB2-0E438A424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162" y="1337970"/>
            <a:ext cx="6763694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202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698E6-FE79-5781-D69F-CA59DB26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96D205-6989-83FD-4B4B-ECBA027C8DA2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FB2F579-2E89-7011-6587-9137920A5334}"/>
              </a:ext>
            </a:extLst>
          </p:cNvPr>
          <p:cNvSpPr txBox="1"/>
          <p:nvPr/>
        </p:nvSpPr>
        <p:spPr>
          <a:xfrm>
            <a:off x="792162" y="430612"/>
            <a:ext cx="7901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KESIMPULAN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26EC51-4C99-55FF-5514-D43451CAF080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8A0AED6-F3F0-DA7A-24D6-99DBA2669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617A42-F217-5CD9-2658-8B34D3EEFB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39"/>
          <a:stretch>
            <a:fillRect/>
          </a:stretch>
        </p:blipFill>
        <p:spPr>
          <a:xfrm>
            <a:off x="792162" y="1322888"/>
            <a:ext cx="6849431" cy="484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55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B7809-A9A2-883C-1D3F-E563959E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267CD7-40EE-E9AC-DDF9-D2A19E4A35EB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AE7EBCF-7C91-B544-195E-17AECE67066E}"/>
              </a:ext>
            </a:extLst>
          </p:cNvPr>
          <p:cNvSpPr txBox="1"/>
          <p:nvPr/>
        </p:nvSpPr>
        <p:spPr>
          <a:xfrm>
            <a:off x="792162" y="430612"/>
            <a:ext cx="7901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PENUTUP &amp; DAFTAR PUSTAKA</a:t>
            </a:r>
            <a:endParaRPr lang="en-ID" sz="2400" b="0" i="0" dirty="0">
              <a:solidFill>
                <a:srgbClr val="F8FAFC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6160027-46DC-C95E-B527-89087FE59FE8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575A987-288B-0113-6E2B-AC6181DA6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3A5B92-9D98-9936-1B6E-EF2DA7D53A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39"/>
          <a:stretch>
            <a:fillRect/>
          </a:stretch>
        </p:blipFill>
        <p:spPr>
          <a:xfrm>
            <a:off x="792162" y="1322888"/>
            <a:ext cx="6849431" cy="484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84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51F1E-D105-C554-FF91-2A453255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180197-E60F-1B90-0027-04D152DD4E9C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0"/>
          </a:xfrm>
          <a:prstGeom prst="line">
            <a:avLst/>
          </a:prstGeom>
          <a:ln w="28575">
            <a:gradFill flip="none" rotWithShape="1">
              <a:gsLst>
                <a:gs pos="13000">
                  <a:schemeClr val="accent5">
                    <a:lumMod val="75000"/>
                  </a:schemeClr>
                </a:gs>
                <a:gs pos="65000">
                  <a:schemeClr val="accent2"/>
                </a:gs>
                <a:gs pos="94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71731C-0B24-F864-7713-C0457495BCAA}"/>
              </a:ext>
            </a:extLst>
          </p:cNvPr>
          <p:cNvSpPr txBox="1"/>
          <p:nvPr/>
        </p:nvSpPr>
        <p:spPr>
          <a:xfrm>
            <a:off x="242722" y="4111073"/>
            <a:ext cx="7581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0" i="0" dirty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DAFTAR PUSTAKA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21DACD-B19E-DB0C-0C89-29285EAA042F}"/>
              </a:ext>
            </a:extLst>
          </p:cNvPr>
          <p:cNvCxnSpPr>
            <a:cxnSpLocks/>
          </p:cNvCxnSpPr>
          <p:nvPr/>
        </p:nvCxnSpPr>
        <p:spPr>
          <a:xfrm>
            <a:off x="5027045" y="2799842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2C7E090-1969-1A35-F6D2-A4FD2344F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358" y="430612"/>
            <a:ext cx="1593480" cy="6460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12B77E-E947-72FB-9ED7-754C7985EFDC}"/>
              </a:ext>
            </a:extLst>
          </p:cNvPr>
          <p:cNvSpPr txBox="1"/>
          <p:nvPr/>
        </p:nvSpPr>
        <p:spPr>
          <a:xfrm>
            <a:off x="525938" y="4706985"/>
            <a:ext cx="601866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Stallings (2020) — Cryptography and Network Security</a:t>
            </a:r>
          </a:p>
          <a:p>
            <a:r>
              <a:rPr lang="en-ID" sz="1400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Kurose &amp; Ross (2021) — Computer Networking</a:t>
            </a:r>
          </a:p>
          <a:p>
            <a:r>
              <a:rPr lang="en-ID" sz="1400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Tanenbaum (2021) — Computer Networks</a:t>
            </a:r>
          </a:p>
          <a:p>
            <a:r>
              <a:rPr lang="en-ID" sz="1400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NIST SP 800-38D — AES-GCM Specification</a:t>
            </a:r>
          </a:p>
          <a:p>
            <a:r>
              <a:rPr lang="en-ID" sz="1400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Sanders (2017) — Practical Packet Analysis</a:t>
            </a:r>
          </a:p>
          <a:p>
            <a:r>
              <a:rPr lang="en-ID" sz="1400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Python Docs — socket module</a:t>
            </a:r>
          </a:p>
          <a:p>
            <a:r>
              <a:rPr lang="en-ID" sz="1400" dirty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Cryptography.io — AEAD Documentation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CA8D2-3EB5-064C-287C-E17D6B96BF99}"/>
              </a:ext>
            </a:extLst>
          </p:cNvPr>
          <p:cNvSpPr txBox="1"/>
          <p:nvPr/>
        </p:nvSpPr>
        <p:spPr>
          <a:xfrm>
            <a:off x="4033630" y="1812759"/>
            <a:ext cx="4153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0" i="0" dirty="0" err="1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Terima</a:t>
            </a:r>
            <a:r>
              <a:rPr lang="en-US" sz="4800" b="0" i="0" dirty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 Kasih!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B7C1EA-0179-FCD1-747A-FEC62DB06898}"/>
              </a:ext>
            </a:extLst>
          </p:cNvPr>
          <p:cNvCxnSpPr>
            <a:cxnSpLocks/>
          </p:cNvCxnSpPr>
          <p:nvPr/>
        </p:nvCxnSpPr>
        <p:spPr>
          <a:xfrm>
            <a:off x="319314" y="4530821"/>
            <a:ext cx="11553371" cy="0"/>
          </a:xfrm>
          <a:prstGeom prst="line">
            <a:avLst/>
          </a:prstGeom>
          <a:ln>
            <a:gradFill flip="none" rotWithShape="1">
              <a:gsLst>
                <a:gs pos="0">
                  <a:srgbClr val="33B1FF"/>
                </a:gs>
                <a:gs pos="74000">
                  <a:srgbClr val="FA7F3A"/>
                </a:gs>
                <a:gs pos="100000">
                  <a:srgbClr val="7030A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00C3A3-BB50-B21C-CF6A-275ECCFC4AA2}"/>
              </a:ext>
            </a:extLst>
          </p:cNvPr>
          <p:cNvSpPr txBox="1"/>
          <p:nvPr/>
        </p:nvSpPr>
        <p:spPr>
          <a:xfrm>
            <a:off x="2683347" y="3007476"/>
            <a:ext cx="68543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i="0" dirty="0" err="1">
                <a:solidFill>
                  <a:srgbClr val="94A3B8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Kelompok</a:t>
            </a:r>
            <a:r>
              <a:rPr lang="en-US" sz="1600" i="0" dirty="0">
                <a:solidFill>
                  <a:srgbClr val="94A3B8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 5: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94A3B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Marsani | Muhammad </a:t>
            </a:r>
            <a:r>
              <a:rPr lang="en-US" sz="1600" b="1" dirty="0" err="1">
                <a:solidFill>
                  <a:srgbClr val="94A3B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Saifulloh</a:t>
            </a:r>
            <a:r>
              <a:rPr lang="en-US" sz="1600" b="1" dirty="0">
                <a:solidFill>
                  <a:srgbClr val="94A3B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| Kristian </a:t>
            </a:r>
            <a:r>
              <a:rPr lang="en-US" sz="1600" b="1" dirty="0" err="1">
                <a:solidFill>
                  <a:srgbClr val="94A3B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Hananiel</a:t>
            </a:r>
            <a:r>
              <a:rPr lang="en-US" sz="1600" b="1" dirty="0">
                <a:solidFill>
                  <a:srgbClr val="94A3B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Hura | </a:t>
            </a:r>
            <a:r>
              <a:rPr lang="en-US" sz="1600" b="1" dirty="0" err="1">
                <a:solidFill>
                  <a:srgbClr val="94A3B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Sukandar</a:t>
            </a:r>
            <a:endParaRPr lang="en-US" sz="1600" b="1" dirty="0">
              <a:solidFill>
                <a:srgbClr val="94A3B8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82A6E-8385-B541-36E5-B781017B0A12}"/>
              </a:ext>
            </a:extLst>
          </p:cNvPr>
          <p:cNvSpPr txBox="1"/>
          <p:nvPr/>
        </p:nvSpPr>
        <p:spPr>
          <a:xfrm>
            <a:off x="792162" y="430612"/>
            <a:ext cx="7901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400" b="0" i="0" dirty="0">
                <a:solidFill>
                  <a:srgbClr val="F8FAF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PENUTUP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0A6B1E-0F44-B891-D1C5-702C43771336}"/>
              </a:ext>
            </a:extLst>
          </p:cNvPr>
          <p:cNvCxnSpPr>
            <a:cxnSpLocks/>
          </p:cNvCxnSpPr>
          <p:nvPr/>
        </p:nvCxnSpPr>
        <p:spPr>
          <a:xfrm>
            <a:off x="919162" y="961851"/>
            <a:ext cx="2166938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3B82F6"/>
                </a:gs>
                <a:gs pos="100000">
                  <a:srgbClr val="EF444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78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1890</Words>
  <Application>Microsoft Office PowerPoint</Application>
  <PresentationFormat>Widescreen</PresentationFormat>
  <Paragraphs>149</Paragraphs>
  <Slides>18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Courier New</vt:lpstr>
      <vt:lpstr>Segoe UI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Infinite Learning 04</dc:creator>
  <cp:lastModifiedBy>Infinite Learning 04</cp:lastModifiedBy>
  <cp:revision>109</cp:revision>
  <dcterms:created xsi:type="dcterms:W3CDTF">2026-06-10T15:25:06Z</dcterms:created>
  <dcterms:modified xsi:type="dcterms:W3CDTF">2026-06-13T13:42:52Z</dcterms:modified>
</cp:coreProperties>
</file>